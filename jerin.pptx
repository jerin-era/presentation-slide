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9AD3C-F794-42BB-88FD-6E2FF620065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9D3E2-EAFD-4658-B983-42E97AA8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8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0CEB-C656-1138-5D48-8D68D0233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1D7C7-1FE9-5AFA-6588-EB8F6EEDE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B760D-0BBF-CAC1-9524-4701604D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058A2-9C34-4B7C-A606-4B2363314AE7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C9FF2-1455-D2BB-EFFC-63CA164A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7C37B-7F60-AA45-3CE6-3FC41383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9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45EA-E7A5-6DA8-A9A4-9D4AE2AB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D27E-B106-86A0-AFB5-A7549FE54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A1FFD-746C-33F8-268E-C839CE44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4278D-193C-490A-A5CA-0D373958AC7F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EEBB-F525-E6D7-DBB2-F8DFF431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89381-8908-DD34-25D9-D80ED49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6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B90F-0263-E754-9569-BF73276D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7DB75-CABF-009F-E0D5-57867CDBE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4402E-097C-EC77-3DAD-085AA3BF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FE4E5-248E-4830-A343-39D9AFCBBE6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B43BE-3953-A6ED-1725-1734D298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C23E6-33FC-A80B-799D-7F34D6F6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43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4D76-EDFA-3B3F-8740-00A47C59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FF49-18D6-60A5-67CC-BA2571E5D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1870D-69B6-1F79-E480-1A4C4A718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C64D0-6603-3EC1-0B6E-FDF23D67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6AFA-C9EC-4E7B-BB8C-E41EE4B92281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82EA1-F080-DF0E-B36C-350CE1D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94C39-BF0B-231E-C310-5B53640D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4C93-FB1A-1905-EFEB-E45C08F7F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AFA94-EBD8-9CD9-A272-A644DCEF8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6466C-E471-9D7D-706D-158845A1B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BFD58-44A3-EBBA-BAB8-240BE49C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ADA9A-010E-69AF-FA94-3C6F28BA8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46258-0B19-8478-B1F7-C06C4814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EC458-4DA0-4618-835E-588009BE1C63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C04B5-9C81-8A63-B09A-1D30D6A8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58E89-0DBD-40B0-48EA-333D26BD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9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0A80-F2D0-4DF1-3A76-FB6C379D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164FF-3D50-1DC3-2CE0-1A87343C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5159-54A8-4E40-BD93-23302F225DC5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CEE2A-EBA5-C9A9-D324-C2565562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B0C83-1BC0-DD58-7D1D-D8BBEC1F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9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58B60-7643-B553-7ACC-7F65994B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A5C9-5D2F-4989-B118-3B7C2BD63179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1402-BF78-2086-1A9E-A0BAF9E3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F07F2-DD27-7EB3-95FB-B490D0EF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5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FB1E-083A-D74D-623C-46A3FB36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3277-B82E-D27B-77D6-304317CC2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899F4-46BF-760C-9AF9-473D1E579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795F0-BDC9-ABB6-7F2E-83D5D733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31042-8F97-4185-9FD9-6C98816721E8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27F01-DF06-D2D2-B997-F148F5F2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98BB-FA16-C3BB-415F-3CF5ABD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CE91-001F-372E-3D9E-26FD33CE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AD5A22-B791-8DDE-F8BE-36584E318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41883-9F4A-4042-0C10-9AD091295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9BC6A-DAA0-DD94-373E-4683D4D8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D877-8AD0-4802-8E6E-1C4BE6FD9743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B4B5E-A144-1FE1-39BF-ECB7666B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3579D-A15C-7DE9-1A08-14B4684E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812D-63A3-F131-CF40-280A2D19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CADD4-3D2D-83C6-3D80-0FD340974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3B028-F0AD-B8EA-4E08-DB091582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13F9-AF3A-46F5-8D8C-D887339D2BEA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E3D08-420B-60EC-2A6F-8665216A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2E929-9578-63D6-434F-7E94C44F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9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B9C0B-9674-E1D9-65FF-1B60A58AD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BD99A-EF4D-DF26-3696-86DA970B1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C34C2-136E-D3B7-9B4D-D0E23B215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8088-F097-4806-A65F-97668F3CF6F7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27C98-515B-9710-5D5D-CD09F155B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6D3AC-1395-F32D-F9B3-44A70EB2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841F2-ED80-B975-1253-1AE8D6B0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63BE7-F4A4-F970-9790-B82402923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0A4CB-351A-F5FA-72C8-DB68CE6A4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6159B-441D-4459-987D-C46B802014D9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C09C9-187B-3FBA-C554-E0A8F160F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Disconnected Graph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DF5BF-9D0C-C5A4-16ED-FD52F552A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7D1EB-48AC-455E-BE08-CF6E4D19F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6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50210E0-DBC4-CBC1-72A3-FFCE16BA6DB4}"/>
              </a:ext>
            </a:extLst>
          </p:cNvPr>
          <p:cNvSpPr/>
          <p:nvPr/>
        </p:nvSpPr>
        <p:spPr>
          <a:xfrm>
            <a:off x="464235" y="196946"/>
            <a:ext cx="10832123" cy="1252026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Graph Theory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CAED9-23FB-D04F-B550-4A9763C1BD4D}"/>
              </a:ext>
            </a:extLst>
          </p:cNvPr>
          <p:cNvSpPr/>
          <p:nvPr/>
        </p:nvSpPr>
        <p:spPr>
          <a:xfrm>
            <a:off x="1336431" y="1241474"/>
            <a:ext cx="9087730" cy="54195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  <a:softEdge rad="3175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572A7-60FB-840A-D730-7D1F51A3AA7B}"/>
              </a:ext>
            </a:extLst>
          </p:cNvPr>
          <p:cNvSpPr txBox="1"/>
          <p:nvPr/>
        </p:nvSpPr>
        <p:spPr>
          <a:xfrm>
            <a:off x="1630679" y="4404605"/>
            <a:ext cx="32215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Presented by:</a:t>
            </a:r>
            <a:r>
              <a:rPr lang="en-US" sz="2000" dirty="0"/>
              <a:t> Jerin Tesnim</a:t>
            </a:r>
          </a:p>
          <a:p>
            <a:r>
              <a:rPr lang="en-US" sz="2000" b="1" dirty="0"/>
              <a:t>ID : </a:t>
            </a:r>
            <a:r>
              <a:rPr lang="en-US" sz="2000" dirty="0"/>
              <a:t>M240205005 ( 16 batch)</a:t>
            </a:r>
          </a:p>
          <a:p>
            <a:r>
              <a:rPr lang="en-US" sz="2000" b="1" dirty="0"/>
              <a:t>Course Code:</a:t>
            </a:r>
            <a:r>
              <a:rPr lang="en-US" sz="2000" dirty="0"/>
              <a:t>  CSE-5306</a:t>
            </a:r>
          </a:p>
          <a:p>
            <a:r>
              <a:rPr lang="en-US" sz="2000" b="1" dirty="0"/>
              <a:t>Course Title: </a:t>
            </a:r>
            <a:r>
              <a:rPr lang="en-US" sz="1600" dirty="0"/>
              <a:t>Special Topics Related to Computer Science and Engineering (Graph Theory).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E4EAE-8820-DC21-43D4-182705E73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1" t="5050" r="1693" b="33513"/>
          <a:stretch>
            <a:fillRect/>
          </a:stretch>
        </p:blipFill>
        <p:spPr>
          <a:xfrm>
            <a:off x="4523935" y="2494994"/>
            <a:ext cx="2487637" cy="1456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CEA508-FCD7-5F66-44E2-C4D6E80D2B92}"/>
              </a:ext>
            </a:extLst>
          </p:cNvPr>
          <p:cNvSpPr txBox="1"/>
          <p:nvPr/>
        </p:nvSpPr>
        <p:spPr>
          <a:xfrm>
            <a:off x="4852181" y="6138648"/>
            <a:ext cx="2278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Date: 14-11-2025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A17B4-CC92-D34F-3B5D-B776A6860717}"/>
              </a:ext>
            </a:extLst>
          </p:cNvPr>
          <p:cNvSpPr txBox="1"/>
          <p:nvPr/>
        </p:nvSpPr>
        <p:spPr>
          <a:xfrm>
            <a:off x="5983458" y="4219882"/>
            <a:ext cx="41874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Presented To: </a:t>
            </a:r>
          </a:p>
          <a:p>
            <a:r>
              <a:rPr lang="en-US" sz="2000" b="1" dirty="0"/>
              <a:t>Professor Dr. Selina Sharmin,</a:t>
            </a:r>
          </a:p>
          <a:p>
            <a:r>
              <a:rPr lang="en-US" sz="2000" b="1" dirty="0"/>
              <a:t>Dept. of Computer Science and Engineering, Jagannath University.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E97979-49A6-7BA3-19AA-E6385EB29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79" y="1276102"/>
            <a:ext cx="1123026" cy="10444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000E03-5CBF-55AC-C62E-752F83CC0F07}"/>
              </a:ext>
            </a:extLst>
          </p:cNvPr>
          <p:cNvSpPr txBox="1"/>
          <p:nvPr/>
        </p:nvSpPr>
        <p:spPr>
          <a:xfrm>
            <a:off x="3882683" y="1448972"/>
            <a:ext cx="3770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Topic: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Disconnected Graph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90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7F9D3E4-FF5C-7B68-C6A5-3E017CD4C720}"/>
              </a:ext>
            </a:extLst>
          </p:cNvPr>
          <p:cNvSpPr/>
          <p:nvPr/>
        </p:nvSpPr>
        <p:spPr>
          <a:xfrm>
            <a:off x="1012873" y="1767491"/>
            <a:ext cx="3583635" cy="25476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D676A6-53E5-067E-B034-97C2BDD8E35F}"/>
              </a:ext>
            </a:extLst>
          </p:cNvPr>
          <p:cNvSpPr/>
          <p:nvPr/>
        </p:nvSpPr>
        <p:spPr>
          <a:xfrm>
            <a:off x="5265453" y="1269739"/>
            <a:ext cx="2505014" cy="177030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27145-FD0F-C00D-9699-C14B34C4F71A}"/>
              </a:ext>
            </a:extLst>
          </p:cNvPr>
          <p:cNvSpPr txBox="1"/>
          <p:nvPr/>
        </p:nvSpPr>
        <p:spPr>
          <a:xfrm>
            <a:off x="2020269" y="1223762"/>
            <a:ext cx="1568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Vertices V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2B9ABC5-7349-80B5-574A-6E1A404EBE1D}"/>
              </a:ext>
            </a:extLst>
          </p:cNvPr>
          <p:cNvSpPr/>
          <p:nvPr/>
        </p:nvSpPr>
        <p:spPr>
          <a:xfrm>
            <a:off x="1259443" y="2237789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DECBDE21-672E-8F83-F560-6437AAF01A50}"/>
              </a:ext>
            </a:extLst>
          </p:cNvPr>
          <p:cNvSpPr/>
          <p:nvPr/>
        </p:nvSpPr>
        <p:spPr>
          <a:xfrm>
            <a:off x="1528680" y="3209828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E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004D6F4-DD96-510B-F962-A234C2BDA210}"/>
              </a:ext>
            </a:extLst>
          </p:cNvPr>
          <p:cNvSpPr/>
          <p:nvPr/>
        </p:nvSpPr>
        <p:spPr>
          <a:xfrm>
            <a:off x="2358674" y="2700045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6FF26B8-FA5A-3555-0783-667FCD5DCE07}"/>
              </a:ext>
            </a:extLst>
          </p:cNvPr>
          <p:cNvSpPr/>
          <p:nvPr/>
        </p:nvSpPr>
        <p:spPr>
          <a:xfrm>
            <a:off x="3457905" y="2517678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B5A2D552-A224-BFD5-F4DA-70FDE6338B24}"/>
              </a:ext>
            </a:extLst>
          </p:cNvPr>
          <p:cNvSpPr/>
          <p:nvPr/>
        </p:nvSpPr>
        <p:spPr>
          <a:xfrm>
            <a:off x="2558390" y="1900619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361C843-D0CC-89D5-A717-108D3D95DC1F}"/>
              </a:ext>
            </a:extLst>
          </p:cNvPr>
          <p:cNvSpPr/>
          <p:nvPr/>
        </p:nvSpPr>
        <p:spPr>
          <a:xfrm>
            <a:off x="2921389" y="3388336"/>
            <a:ext cx="829994" cy="7596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178BBD-E47C-8DD4-7BC8-84F1CC240FEE}"/>
              </a:ext>
            </a:extLst>
          </p:cNvPr>
          <p:cNvCxnSpPr/>
          <p:nvPr/>
        </p:nvCxnSpPr>
        <p:spPr>
          <a:xfrm flipV="1">
            <a:off x="5597970" y="2391841"/>
            <a:ext cx="1186374" cy="1152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7D30FC-1E76-A0B9-DCD7-82CCF9A04A5F}"/>
              </a:ext>
            </a:extLst>
          </p:cNvPr>
          <p:cNvCxnSpPr>
            <a:cxnSpLocks/>
          </p:cNvCxnSpPr>
          <p:nvPr/>
        </p:nvCxnSpPr>
        <p:spPr>
          <a:xfrm flipV="1">
            <a:off x="6096000" y="2728619"/>
            <a:ext cx="1013641" cy="454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47E06E-92BF-A43C-30AE-78435B41C1BA}"/>
              </a:ext>
            </a:extLst>
          </p:cNvPr>
          <p:cNvCxnSpPr>
            <a:cxnSpLocks/>
          </p:cNvCxnSpPr>
          <p:nvPr/>
        </p:nvCxnSpPr>
        <p:spPr>
          <a:xfrm flipV="1">
            <a:off x="5549696" y="1425335"/>
            <a:ext cx="750643" cy="500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B577CD-539C-3A28-D352-7E0C8E942AA6}"/>
              </a:ext>
            </a:extLst>
          </p:cNvPr>
          <p:cNvCxnSpPr>
            <a:cxnSpLocks/>
          </p:cNvCxnSpPr>
          <p:nvPr/>
        </p:nvCxnSpPr>
        <p:spPr>
          <a:xfrm>
            <a:off x="6560031" y="1489105"/>
            <a:ext cx="946631" cy="2809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740936-7508-668A-4F96-94C6FCECDB37}"/>
              </a:ext>
            </a:extLst>
          </p:cNvPr>
          <p:cNvCxnSpPr>
            <a:cxnSpLocks/>
          </p:cNvCxnSpPr>
          <p:nvPr/>
        </p:nvCxnSpPr>
        <p:spPr>
          <a:xfrm flipV="1">
            <a:off x="5546389" y="1857961"/>
            <a:ext cx="920446" cy="2424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F449A3-0EF6-E984-8D8E-297195D79A46}"/>
              </a:ext>
            </a:extLst>
          </p:cNvPr>
          <p:cNvCxnSpPr>
            <a:cxnSpLocks/>
          </p:cNvCxnSpPr>
          <p:nvPr/>
        </p:nvCxnSpPr>
        <p:spPr>
          <a:xfrm flipV="1">
            <a:off x="6516454" y="2092447"/>
            <a:ext cx="990208" cy="1289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9EE42C-50A1-7B5F-7408-F184C20B0C1F}"/>
              </a:ext>
            </a:extLst>
          </p:cNvPr>
          <p:cNvSpPr txBox="1"/>
          <p:nvPr/>
        </p:nvSpPr>
        <p:spPr>
          <a:xfrm>
            <a:off x="5938772" y="773812"/>
            <a:ext cx="2597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Edges 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1D31BF-DF00-1FB9-872D-B4919AAE11E0}"/>
              </a:ext>
            </a:extLst>
          </p:cNvPr>
          <p:cNvSpPr/>
          <p:nvPr/>
        </p:nvSpPr>
        <p:spPr>
          <a:xfrm>
            <a:off x="4649517" y="4467994"/>
            <a:ext cx="4826668" cy="20324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538FDE59-9D20-67F7-5564-FCFDF268B080}"/>
              </a:ext>
            </a:extLst>
          </p:cNvPr>
          <p:cNvSpPr/>
          <p:nvPr/>
        </p:nvSpPr>
        <p:spPr>
          <a:xfrm>
            <a:off x="5009364" y="5763436"/>
            <a:ext cx="378080" cy="353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5BD5E8-86F7-1965-24A0-567C0714AFA3}"/>
              </a:ext>
            </a:extLst>
          </p:cNvPr>
          <p:cNvCxnSpPr>
            <a:cxnSpLocks/>
            <a:stCxn id="28" idx="0"/>
            <a:endCxn id="45" idx="4"/>
          </p:cNvCxnSpPr>
          <p:nvPr/>
        </p:nvCxnSpPr>
        <p:spPr>
          <a:xfrm flipH="1" flipV="1">
            <a:off x="4979089" y="4914019"/>
            <a:ext cx="219315" cy="8494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EA1DF6-6072-64AB-CD60-5043BB716EE5}"/>
              </a:ext>
            </a:extLst>
          </p:cNvPr>
          <p:cNvCxnSpPr>
            <a:cxnSpLocks/>
            <a:stCxn id="37" idx="1"/>
            <a:endCxn id="45" idx="5"/>
          </p:cNvCxnSpPr>
          <p:nvPr/>
        </p:nvCxnSpPr>
        <p:spPr>
          <a:xfrm flipH="1" flipV="1">
            <a:off x="5120355" y="4857134"/>
            <a:ext cx="1235353" cy="9157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05857E-7C68-1D5C-069C-1453BE483AC8}"/>
              </a:ext>
            </a:extLst>
          </p:cNvPr>
          <p:cNvCxnSpPr>
            <a:cxnSpLocks/>
            <a:stCxn id="28" idx="6"/>
            <a:endCxn id="37" idx="2"/>
          </p:cNvCxnSpPr>
          <p:nvPr/>
        </p:nvCxnSpPr>
        <p:spPr>
          <a:xfrm flipV="1">
            <a:off x="5387444" y="5915212"/>
            <a:ext cx="912895" cy="24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B4E8D32-2498-F8B5-DE5C-1103A3468B14}"/>
              </a:ext>
            </a:extLst>
          </p:cNvPr>
          <p:cNvSpPr/>
          <p:nvPr/>
        </p:nvSpPr>
        <p:spPr>
          <a:xfrm>
            <a:off x="6300339" y="5713987"/>
            <a:ext cx="378080" cy="402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DB0857-AC62-4EC8-A8CB-BF8FECF65DB9}"/>
              </a:ext>
            </a:extLst>
          </p:cNvPr>
          <p:cNvSpPr txBox="1"/>
          <p:nvPr/>
        </p:nvSpPr>
        <p:spPr>
          <a:xfrm>
            <a:off x="3022995" y="5360044"/>
            <a:ext cx="2088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Graph </a:t>
            </a:r>
          </a:p>
          <a:p>
            <a:r>
              <a:rPr lang="en-US" sz="2000" b="1" dirty="0"/>
              <a:t>G (V,E)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C82976-C7BB-8698-3912-8DC8BD2A4BFA}"/>
              </a:ext>
            </a:extLst>
          </p:cNvPr>
          <p:cNvSpPr txBox="1"/>
          <p:nvPr/>
        </p:nvSpPr>
        <p:spPr>
          <a:xfrm>
            <a:off x="2715815" y="5086328"/>
            <a:ext cx="193370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Disconnected </a:t>
            </a:r>
          </a:p>
          <a:p>
            <a:endParaRPr lang="en-US" dirty="0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53DF7BD2-0185-D745-E9BB-6D86271DE4FA}"/>
              </a:ext>
            </a:extLst>
          </p:cNvPr>
          <p:cNvSpPr/>
          <p:nvPr/>
        </p:nvSpPr>
        <p:spPr>
          <a:xfrm>
            <a:off x="4779308" y="4525585"/>
            <a:ext cx="399562" cy="38843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</a:t>
            </a: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4D6EFD62-B668-4543-5294-89047E3E2E06}"/>
              </a:ext>
            </a:extLst>
          </p:cNvPr>
          <p:cNvSpPr/>
          <p:nvPr/>
        </p:nvSpPr>
        <p:spPr>
          <a:xfrm>
            <a:off x="7109641" y="4634523"/>
            <a:ext cx="397021" cy="3931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78BFCB9D-4B4C-9BA7-BACF-C434EB1E3868}"/>
              </a:ext>
            </a:extLst>
          </p:cNvPr>
          <p:cNvSpPr/>
          <p:nvPr/>
        </p:nvSpPr>
        <p:spPr>
          <a:xfrm>
            <a:off x="7261928" y="5472842"/>
            <a:ext cx="451894" cy="3931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</a:t>
            </a: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82898837-ADE9-8FC1-9C3E-021F52248359}"/>
              </a:ext>
            </a:extLst>
          </p:cNvPr>
          <p:cNvSpPr/>
          <p:nvPr/>
        </p:nvSpPr>
        <p:spPr>
          <a:xfrm>
            <a:off x="8784992" y="4669646"/>
            <a:ext cx="399562" cy="38843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2EB93C7-7E00-492C-EC4E-9B745481D363}"/>
              </a:ext>
            </a:extLst>
          </p:cNvPr>
          <p:cNvCxnSpPr>
            <a:cxnSpLocks/>
            <a:stCxn id="57" idx="6"/>
            <a:endCxn id="58" idx="3"/>
          </p:cNvCxnSpPr>
          <p:nvPr/>
        </p:nvCxnSpPr>
        <p:spPr>
          <a:xfrm flipV="1">
            <a:off x="7713822" y="5001196"/>
            <a:ext cx="1129685" cy="6682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8728858-034E-4AFB-DF10-E9EDD677DD5B}"/>
              </a:ext>
            </a:extLst>
          </p:cNvPr>
          <p:cNvCxnSpPr>
            <a:cxnSpLocks/>
            <a:stCxn id="56" idx="6"/>
            <a:endCxn id="58" idx="1"/>
          </p:cNvCxnSpPr>
          <p:nvPr/>
        </p:nvCxnSpPr>
        <p:spPr>
          <a:xfrm flipV="1">
            <a:off x="7506662" y="4726531"/>
            <a:ext cx="1336845" cy="1045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D419E1-AE8B-BC46-0379-E1F6002F3AEC}"/>
              </a:ext>
            </a:extLst>
          </p:cNvPr>
          <p:cNvCxnSpPr>
            <a:cxnSpLocks/>
            <a:stCxn id="56" idx="4"/>
            <a:endCxn id="57" idx="1"/>
          </p:cNvCxnSpPr>
          <p:nvPr/>
        </p:nvCxnSpPr>
        <p:spPr>
          <a:xfrm>
            <a:off x="7308152" y="5027693"/>
            <a:ext cx="19954" cy="5027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F85E19A1-DF60-643F-E4F1-C314A9CC6866}"/>
              </a:ext>
            </a:extLst>
          </p:cNvPr>
          <p:cNvSpPr/>
          <p:nvPr/>
        </p:nvSpPr>
        <p:spPr>
          <a:xfrm rot="344788">
            <a:off x="6516453" y="3165230"/>
            <a:ext cx="161965" cy="11446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EBC2FC4F-7755-30FE-F7EA-457C27D60628}"/>
              </a:ext>
            </a:extLst>
          </p:cNvPr>
          <p:cNvSpPr/>
          <p:nvPr/>
        </p:nvSpPr>
        <p:spPr>
          <a:xfrm rot="18958253">
            <a:off x="5111938" y="3357480"/>
            <a:ext cx="159469" cy="11292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B9E6ED-1C44-4EFF-96F1-85769ED269DC}"/>
              </a:ext>
            </a:extLst>
          </p:cNvPr>
          <p:cNvSpPr txBox="1"/>
          <p:nvPr/>
        </p:nvSpPr>
        <p:spPr>
          <a:xfrm>
            <a:off x="4741916" y="6152173"/>
            <a:ext cx="1993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Component-1 {A,B,C}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CED3A9-8A26-C989-F5B5-A7D596A65CA6}"/>
              </a:ext>
            </a:extLst>
          </p:cNvPr>
          <p:cNvSpPr txBox="1"/>
          <p:nvPr/>
        </p:nvSpPr>
        <p:spPr>
          <a:xfrm>
            <a:off x="7389408" y="5946583"/>
            <a:ext cx="21540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Component-2 {D,E,F}</a:t>
            </a:r>
          </a:p>
          <a:p>
            <a:endParaRPr lang="en-US" dirty="0"/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E1D57647-C13C-B197-8F6E-0908F289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2</a:t>
            </a:fld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97A470-CDFB-EC5A-4495-84C9881091D5}"/>
              </a:ext>
            </a:extLst>
          </p:cNvPr>
          <p:cNvSpPr txBox="1"/>
          <p:nvPr/>
        </p:nvSpPr>
        <p:spPr>
          <a:xfrm>
            <a:off x="7929341" y="3241201"/>
            <a:ext cx="380797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/>
              <a:t>  there exists at least one pair of </a:t>
            </a:r>
          </a:p>
          <a:p>
            <a:r>
              <a:rPr lang="en-US" sz="1700" dirty="0"/>
              <a:t>vertices where, </a:t>
            </a:r>
            <a:r>
              <a:rPr lang="en-US" sz="1700" b="1" dirty="0"/>
              <a:t>no path</a:t>
            </a:r>
            <a:r>
              <a:rPr lang="en-US" sz="1700" dirty="0"/>
              <a:t> connects them.</a:t>
            </a:r>
          </a:p>
          <a:p>
            <a:endParaRPr lang="en-US" sz="17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25EAA3-DA16-2B45-B1D4-026F0950A154}"/>
              </a:ext>
            </a:extLst>
          </p:cNvPr>
          <p:cNvSpPr txBox="1"/>
          <p:nvPr/>
        </p:nvSpPr>
        <p:spPr>
          <a:xfrm>
            <a:off x="261663" y="157408"/>
            <a:ext cx="3364027" cy="58477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#Definition</a:t>
            </a:r>
          </a:p>
        </p:txBody>
      </p:sp>
    </p:spTree>
    <p:extLst>
      <p:ext uri="{BB962C8B-B14F-4D97-AF65-F5344CB8AC3E}">
        <p14:creationId xmlns:p14="http://schemas.microsoft.com/office/powerpoint/2010/main" val="16830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EF99772E-777A-03B1-79D9-4FAE3577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3</a:t>
            </a:fld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26C377-736A-BCBF-AA2D-C49491A11901}"/>
              </a:ext>
            </a:extLst>
          </p:cNvPr>
          <p:cNvSpPr txBox="1"/>
          <p:nvPr/>
        </p:nvSpPr>
        <p:spPr>
          <a:xfrm>
            <a:off x="1674055" y="4394140"/>
            <a:ext cx="464233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Multiple components.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No path between all vertices.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Edge &amp; Vertex connectivity 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Graph traversal algorithms -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E7F2EB0-B66A-4C6D-2EAB-9B38DBDB1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20" b="16268"/>
          <a:stretch>
            <a:fillRect/>
          </a:stretch>
        </p:blipFill>
        <p:spPr>
          <a:xfrm>
            <a:off x="2011681" y="1608819"/>
            <a:ext cx="3237067" cy="23422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55AB2-E7B6-4BC6-5A65-FE4471037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660" y="2984557"/>
            <a:ext cx="4222140" cy="249792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CB4690-BCE7-C81F-B5A9-7F78206EF38E}"/>
              </a:ext>
            </a:extLst>
          </p:cNvPr>
          <p:cNvSpPr/>
          <p:nvPr/>
        </p:nvSpPr>
        <p:spPr>
          <a:xfrm>
            <a:off x="1319638" y="189689"/>
            <a:ext cx="9679330" cy="8060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Properties of Disconnected Graphs</a:t>
            </a:r>
          </a:p>
          <a:p>
            <a:pPr algn="ctr"/>
            <a:endParaRPr lang="en-US" sz="2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ADECE3-E06C-8DE4-E686-F2673A23116B}"/>
              </a:ext>
            </a:extLst>
          </p:cNvPr>
          <p:cNvCxnSpPr>
            <a:cxnSpLocks/>
          </p:cNvCxnSpPr>
          <p:nvPr/>
        </p:nvCxnSpPr>
        <p:spPr>
          <a:xfrm flipH="1" flipV="1">
            <a:off x="1751431" y="1599853"/>
            <a:ext cx="879227" cy="2008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C99BDE-D683-D73B-8D6E-D5E0F94FE85E}"/>
              </a:ext>
            </a:extLst>
          </p:cNvPr>
          <p:cNvSpPr txBox="1"/>
          <p:nvPr/>
        </p:nvSpPr>
        <p:spPr>
          <a:xfrm>
            <a:off x="953089" y="1415187"/>
            <a:ext cx="92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Vertex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B28C2D-2356-A6A8-02BA-54920B3212E1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754880" y="1644607"/>
            <a:ext cx="718955" cy="32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D334AD-4055-89CD-1510-6C38A2B77305}"/>
              </a:ext>
            </a:extLst>
          </p:cNvPr>
          <p:cNvSpPr txBox="1"/>
          <p:nvPr/>
        </p:nvSpPr>
        <p:spPr>
          <a:xfrm>
            <a:off x="5473835" y="1459941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Edge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47BE1-67B9-DDD7-2ADD-80A5B44E8F7E}"/>
              </a:ext>
            </a:extLst>
          </p:cNvPr>
          <p:cNvSpPr txBox="1"/>
          <p:nvPr/>
        </p:nvSpPr>
        <p:spPr>
          <a:xfrm>
            <a:off x="2440746" y="3612510"/>
            <a:ext cx="1519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component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2D3DE-8159-D5FE-D46B-B1126379428D}"/>
              </a:ext>
            </a:extLst>
          </p:cNvPr>
          <p:cNvSpPr txBox="1"/>
          <p:nvPr/>
        </p:nvSpPr>
        <p:spPr>
          <a:xfrm>
            <a:off x="4024111" y="2957818"/>
            <a:ext cx="1519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component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602D9B-16E2-EFC5-2F2D-A2A2623AFDC0}"/>
              </a:ext>
            </a:extLst>
          </p:cNvPr>
          <p:cNvSpPr txBox="1"/>
          <p:nvPr/>
        </p:nvSpPr>
        <p:spPr>
          <a:xfrm>
            <a:off x="2870558" y="2552699"/>
            <a:ext cx="1519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component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F3B03-219B-8713-C9C3-F14202F98BF0}"/>
              </a:ext>
            </a:extLst>
          </p:cNvPr>
          <p:cNvSpPr txBox="1"/>
          <p:nvPr/>
        </p:nvSpPr>
        <p:spPr>
          <a:xfrm>
            <a:off x="8610600" y="5379024"/>
            <a:ext cx="3164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(vertices with a degree of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2515F-A761-3F22-EBC6-74E2D6DFC53B}"/>
              </a:ext>
            </a:extLst>
          </p:cNvPr>
          <p:cNvSpPr txBox="1"/>
          <p:nvPr/>
        </p:nvSpPr>
        <p:spPr>
          <a:xfrm>
            <a:off x="9045783" y="4743814"/>
            <a:ext cx="104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9A113-5A3F-3575-836D-7708F41E4AD0}"/>
              </a:ext>
            </a:extLst>
          </p:cNvPr>
          <p:cNvSpPr txBox="1"/>
          <p:nvPr/>
        </p:nvSpPr>
        <p:spPr>
          <a:xfrm>
            <a:off x="10192629" y="4801808"/>
            <a:ext cx="46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20494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AF660-4F4F-B0A1-38BD-D8B7506B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98268-AD32-B249-A4D3-5C4C05246CFC}"/>
              </a:ext>
            </a:extLst>
          </p:cNvPr>
          <p:cNvSpPr txBox="1"/>
          <p:nvPr/>
        </p:nvSpPr>
        <p:spPr>
          <a:xfrm>
            <a:off x="1205132" y="1364566"/>
            <a:ext cx="4267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Network analysis –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Social network analysis -</a:t>
            </a:r>
          </a:p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3.     Faulty connections –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32038-09CA-1CDE-C3DA-628923886EFA}"/>
              </a:ext>
            </a:extLst>
          </p:cNvPr>
          <p:cNvSpPr txBox="1"/>
          <p:nvPr/>
        </p:nvSpPr>
        <p:spPr>
          <a:xfrm>
            <a:off x="1205131" y="3989275"/>
            <a:ext cx="4267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Cities and roads 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Social media groups.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Communication etc.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6F13C-0ABD-A4A8-2CA8-9FE5D04E2BC2}"/>
              </a:ext>
            </a:extLst>
          </p:cNvPr>
          <p:cNvSpPr txBox="1"/>
          <p:nvPr/>
        </p:nvSpPr>
        <p:spPr>
          <a:xfrm>
            <a:off x="1205131" y="3646776"/>
            <a:ext cx="3477063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softEdge rad="6350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#Real time examples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6AFD29-7BEB-D004-BE51-BB760BD32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82064">
            <a:off x="6941003" y="649175"/>
            <a:ext cx="3539855" cy="1635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BBAEB1-D8B6-38AF-5FAA-64A3959E3C75}"/>
              </a:ext>
            </a:extLst>
          </p:cNvPr>
          <p:cNvSpPr txBox="1"/>
          <p:nvPr/>
        </p:nvSpPr>
        <p:spPr>
          <a:xfrm>
            <a:off x="6144153" y="2540734"/>
            <a:ext cx="1522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 :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C2A4E-46D6-B67F-4B51-8874F0F3A545}"/>
              </a:ext>
            </a:extLst>
          </p:cNvPr>
          <p:cNvSpPr txBox="1"/>
          <p:nvPr/>
        </p:nvSpPr>
        <p:spPr>
          <a:xfrm>
            <a:off x="9525181" y="2101129"/>
            <a:ext cx="1413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 : B</a:t>
            </a:r>
          </a:p>
          <a:p>
            <a:endParaRPr lang="en-US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D2248-8E90-120E-CE36-A9F95E41019A}"/>
              </a:ext>
            </a:extLst>
          </p:cNvPr>
          <p:cNvSpPr txBox="1"/>
          <p:nvPr/>
        </p:nvSpPr>
        <p:spPr>
          <a:xfrm>
            <a:off x="6614064" y="6258518"/>
            <a:ext cx="450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A Country with two main Islands (</a:t>
            </a:r>
            <a:r>
              <a:rPr lang="en-US" b="1" dirty="0" err="1"/>
              <a:t>x,y</a:t>
            </a:r>
            <a:r>
              <a:rPr lang="en-US" b="1" dirty="0"/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9A282-14F4-4B70-3FBE-532337E4E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330" y="3822924"/>
            <a:ext cx="6078414" cy="23347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D47E22-8DF0-E2F7-40AB-A2E21B225120}"/>
              </a:ext>
            </a:extLst>
          </p:cNvPr>
          <p:cNvSpPr txBox="1"/>
          <p:nvPr/>
        </p:nvSpPr>
        <p:spPr>
          <a:xfrm>
            <a:off x="6345159" y="5922511"/>
            <a:ext cx="1561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Island :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227DE-2D2A-27C5-39A0-AAFE724C7790}"/>
              </a:ext>
            </a:extLst>
          </p:cNvPr>
          <p:cNvSpPr txBox="1"/>
          <p:nvPr/>
        </p:nvSpPr>
        <p:spPr>
          <a:xfrm>
            <a:off x="10341015" y="5854707"/>
            <a:ext cx="1561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Island : 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A29B0B-A9E6-5A57-558E-F8F3D5D86500}"/>
              </a:ext>
            </a:extLst>
          </p:cNvPr>
          <p:cNvCxnSpPr>
            <a:cxnSpLocks/>
          </p:cNvCxnSpPr>
          <p:nvPr/>
        </p:nvCxnSpPr>
        <p:spPr>
          <a:xfrm flipV="1">
            <a:off x="8370277" y="3688736"/>
            <a:ext cx="548640" cy="1952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0CD5AA-B230-B4C0-3784-CF79E1AB5598}"/>
              </a:ext>
            </a:extLst>
          </p:cNvPr>
          <p:cNvSpPr txBox="1"/>
          <p:nvPr/>
        </p:nvSpPr>
        <p:spPr>
          <a:xfrm>
            <a:off x="6181667" y="3350182"/>
            <a:ext cx="6078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No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</a:rPr>
              <a:t>roads,bridges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or ferry services connect the two islands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AF3050-C36C-A0AD-A1F4-14A8603DEF0E}"/>
              </a:ext>
            </a:extLst>
          </p:cNvPr>
          <p:cNvSpPr/>
          <p:nvPr/>
        </p:nvSpPr>
        <p:spPr>
          <a:xfrm>
            <a:off x="1266089" y="472378"/>
            <a:ext cx="2705687" cy="478133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  #Applications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50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20651-C2ED-79D9-694E-406FA0E5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2A947-C8F6-40C3-2979-311F24DB14A0}"/>
              </a:ext>
            </a:extLst>
          </p:cNvPr>
          <p:cNvSpPr txBox="1"/>
          <p:nvPr/>
        </p:nvSpPr>
        <p:spPr>
          <a:xfrm>
            <a:off x="1336432" y="323556"/>
            <a:ext cx="9495692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                    Conclusion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2FEB82-153B-5360-0F33-9E9BE95731DE}"/>
              </a:ext>
            </a:extLst>
          </p:cNvPr>
          <p:cNvSpPr/>
          <p:nvPr/>
        </p:nvSpPr>
        <p:spPr>
          <a:xfrm>
            <a:off x="1974165" y="908331"/>
            <a:ext cx="8243669" cy="46765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en-US" sz="2400" b="1" dirty="0"/>
              <a:t>network failures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en-US" sz="2400" b="1" dirty="0"/>
              <a:t>communication gaps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en-US" sz="2400" b="1" dirty="0"/>
              <a:t>system isolation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9099A-688F-C11C-BFE9-21B013D24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 rot="19321449">
            <a:off x="8917327" y="3910850"/>
            <a:ext cx="2055932" cy="2313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2116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7033C-C34A-430A-49CF-D728EF01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D1EB-48AC-455E-BE08-CF6E4D19F7A4}" type="slidenum">
              <a:rPr lang="en-US" smtClean="0"/>
              <a:t>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CDA7A-5364-DFA4-3AAD-79A982CA4D61}"/>
              </a:ext>
            </a:extLst>
          </p:cNvPr>
          <p:cNvSpPr/>
          <p:nvPr/>
        </p:nvSpPr>
        <p:spPr>
          <a:xfrm>
            <a:off x="838200" y="548640"/>
            <a:ext cx="10820916" cy="58077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C0F4730-472D-E690-39C6-E486E66046A3}"/>
              </a:ext>
            </a:extLst>
          </p:cNvPr>
          <p:cNvSpPr/>
          <p:nvPr/>
        </p:nvSpPr>
        <p:spPr>
          <a:xfrm>
            <a:off x="1673181" y="3876761"/>
            <a:ext cx="378080" cy="3530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84609D-7AE5-CE1E-9E50-BC7DCC6E22F9}"/>
              </a:ext>
            </a:extLst>
          </p:cNvPr>
          <p:cNvCxnSpPr>
            <a:cxnSpLocks/>
            <a:stCxn id="10" idx="0"/>
            <a:endCxn id="15" idx="4"/>
          </p:cNvCxnSpPr>
          <p:nvPr/>
        </p:nvCxnSpPr>
        <p:spPr>
          <a:xfrm flipH="1" flipV="1">
            <a:off x="1673181" y="2536579"/>
            <a:ext cx="189040" cy="13401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01EA05-A117-9282-144F-C48C37563091}"/>
              </a:ext>
            </a:extLst>
          </p:cNvPr>
          <p:cNvCxnSpPr>
            <a:cxnSpLocks/>
            <a:stCxn id="14" idx="1"/>
            <a:endCxn id="15" idx="5"/>
          </p:cNvCxnSpPr>
          <p:nvPr/>
        </p:nvCxnSpPr>
        <p:spPr>
          <a:xfrm flipH="1" flipV="1">
            <a:off x="1814447" y="2479694"/>
            <a:ext cx="1948144" cy="22044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974CBD-D9ED-27E2-6CAC-F9C0082D708E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2051261" y="4053261"/>
            <a:ext cx="1655961" cy="7732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BDC7E0A-F771-2B95-BBA9-D57187FCF356}"/>
              </a:ext>
            </a:extLst>
          </p:cNvPr>
          <p:cNvSpPr/>
          <p:nvPr/>
        </p:nvSpPr>
        <p:spPr>
          <a:xfrm>
            <a:off x="3707222" y="4625244"/>
            <a:ext cx="378080" cy="402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E1270C1-37EC-F190-30C4-AC08DA23C3EE}"/>
              </a:ext>
            </a:extLst>
          </p:cNvPr>
          <p:cNvSpPr/>
          <p:nvPr/>
        </p:nvSpPr>
        <p:spPr>
          <a:xfrm>
            <a:off x="1473400" y="2148145"/>
            <a:ext cx="399562" cy="38843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5DAA669-0B1B-EF4A-682E-BEBA26624BB3}"/>
              </a:ext>
            </a:extLst>
          </p:cNvPr>
          <p:cNvSpPr/>
          <p:nvPr/>
        </p:nvSpPr>
        <p:spPr>
          <a:xfrm>
            <a:off x="8393639" y="2071167"/>
            <a:ext cx="397021" cy="3931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55B81788-A89E-015E-9DBC-193F21F928E3}"/>
              </a:ext>
            </a:extLst>
          </p:cNvPr>
          <p:cNvSpPr/>
          <p:nvPr/>
        </p:nvSpPr>
        <p:spPr>
          <a:xfrm>
            <a:off x="8203464" y="3124583"/>
            <a:ext cx="451894" cy="39317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DB440BD-DE32-19ED-E063-9F1E1F0D99B2}"/>
              </a:ext>
            </a:extLst>
          </p:cNvPr>
          <p:cNvSpPr/>
          <p:nvPr/>
        </p:nvSpPr>
        <p:spPr>
          <a:xfrm>
            <a:off x="10954238" y="2067930"/>
            <a:ext cx="399562" cy="38843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EF385E-C875-0E41-189A-59D411C39F33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>
          <a:xfrm flipV="1">
            <a:off x="8655358" y="2399480"/>
            <a:ext cx="2357395" cy="9216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643C4B-2B8A-5D0B-8E04-2A4CBB661A2B}"/>
              </a:ext>
            </a:extLst>
          </p:cNvPr>
          <p:cNvCxnSpPr>
            <a:cxnSpLocks/>
            <a:stCxn id="16" idx="6"/>
            <a:endCxn id="18" idx="1"/>
          </p:cNvCxnSpPr>
          <p:nvPr/>
        </p:nvCxnSpPr>
        <p:spPr>
          <a:xfrm flipV="1">
            <a:off x="8790660" y="2124815"/>
            <a:ext cx="2222093" cy="1429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BB6065-91D1-9CDA-2778-8A6415D1B91F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H="1">
            <a:off x="8269642" y="2406759"/>
            <a:ext cx="182139" cy="7754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4A7376-C0D9-EADC-24CD-BD128E5044DD}"/>
              </a:ext>
            </a:extLst>
          </p:cNvPr>
          <p:cNvSpPr txBox="1"/>
          <p:nvPr/>
        </p:nvSpPr>
        <p:spPr>
          <a:xfrm>
            <a:off x="1473400" y="5273828"/>
            <a:ext cx="1993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Component-1  {A,B,C}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10B668-09C8-952E-24BA-20AA926A50D5}"/>
              </a:ext>
            </a:extLst>
          </p:cNvPr>
          <p:cNvSpPr txBox="1"/>
          <p:nvPr/>
        </p:nvSpPr>
        <p:spPr>
          <a:xfrm>
            <a:off x="8429411" y="4027135"/>
            <a:ext cx="21540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Component-2  {D,E,F}</a:t>
            </a:r>
          </a:p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A86EAA-6FAF-6FB2-C1FC-9E99703AA2D8}"/>
              </a:ext>
            </a:extLst>
          </p:cNvPr>
          <p:cNvSpPr txBox="1"/>
          <p:nvPr/>
        </p:nvSpPr>
        <p:spPr>
          <a:xfrm>
            <a:off x="4058043" y="3314955"/>
            <a:ext cx="37360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THE END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50411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261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19</cp:revision>
  <dcterms:created xsi:type="dcterms:W3CDTF">2025-10-26T09:38:17Z</dcterms:created>
  <dcterms:modified xsi:type="dcterms:W3CDTF">2025-11-13T17:27:27Z</dcterms:modified>
</cp:coreProperties>
</file>